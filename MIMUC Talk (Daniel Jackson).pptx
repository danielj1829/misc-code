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259" r:id="rId3"/>
    <p:sldId id="260" r:id="rId4"/>
    <p:sldId id="261" r:id="rId5"/>
    <p:sldId id="262" r:id="rId6"/>
    <p:sldId id="264" r:id="rId7"/>
    <p:sldId id="265" r:id="rId8"/>
    <p:sldId id="266" r:id="rId9"/>
    <p:sldId id="273" r:id="rId10"/>
    <p:sldId id="267" r:id="rId11"/>
    <p:sldId id="263" r:id="rId12"/>
    <p:sldId id="271"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D261C-23E7-4CA7-A965-BC21CC281D8C}" type="datetimeFigureOut">
              <a:rPr lang="en-GB" smtClean="0"/>
              <a:t>10/04/2024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E52AF8-6A42-426E-B62C-3A497BC323A3}" type="slidenum">
              <a:rPr lang="en-GB" smtClean="0"/>
              <a:t>‹#›</a:t>
            </a:fld>
            <a:endParaRPr lang="en-GB"/>
          </a:p>
        </p:txBody>
      </p:sp>
    </p:spTree>
    <p:extLst>
      <p:ext uri="{BB962C8B-B14F-4D97-AF65-F5344CB8AC3E}">
        <p14:creationId xmlns:p14="http://schemas.microsoft.com/office/powerpoint/2010/main" val="4090859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A046-2CE7-3AB4-D524-5C7AF6D4425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8EA40BF-CD39-5266-1075-8A961606E4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58AD666-86F0-06D6-AA39-FC0AF14AEE57}"/>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5" name="Footer Placeholder 4">
            <a:extLst>
              <a:ext uri="{FF2B5EF4-FFF2-40B4-BE49-F238E27FC236}">
                <a16:creationId xmlns:a16="http://schemas.microsoft.com/office/drawing/2014/main" id="{9C6D6BE6-DF8C-985D-B34C-2F141CDEFA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5566B1-F559-3209-3588-AC6CAB828AED}"/>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55920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B8EB9-F318-8495-FBB2-A38D7181E5C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7322D83-0879-9046-3476-8A6A6D4B4E1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22888B0-B2C2-7F9A-51A9-12BB19D8064A}"/>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5" name="Footer Placeholder 4">
            <a:extLst>
              <a:ext uri="{FF2B5EF4-FFF2-40B4-BE49-F238E27FC236}">
                <a16:creationId xmlns:a16="http://schemas.microsoft.com/office/drawing/2014/main" id="{80734F76-751C-F948-FD50-DDFD40DC1F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68F422-FAA1-C63E-716E-2A173E758C33}"/>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2568418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2E64-A2F1-9F7C-68B3-E45176696E4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0C31E3F-E4CC-7316-2DD4-49F939815C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E2C0259-7040-3DC0-E40B-FA68B0CC4540}"/>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5" name="Footer Placeholder 4">
            <a:extLst>
              <a:ext uri="{FF2B5EF4-FFF2-40B4-BE49-F238E27FC236}">
                <a16:creationId xmlns:a16="http://schemas.microsoft.com/office/drawing/2014/main" id="{FA44EBE3-6E8F-7609-F939-B5A997085F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AC99FB-50F1-0E2F-5D7A-0597E73F607A}"/>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3275336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E6DC-E5FF-5F9C-CF32-B275386DD34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B6690A8-01FF-7267-0AB7-D2D0DA48020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81E0A28-0518-69E4-6E1E-A465A75CCFE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2479397D-AFFF-FB52-D0DA-B924B807A693}"/>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6" name="Footer Placeholder 5">
            <a:extLst>
              <a:ext uri="{FF2B5EF4-FFF2-40B4-BE49-F238E27FC236}">
                <a16:creationId xmlns:a16="http://schemas.microsoft.com/office/drawing/2014/main" id="{BCC0EF5A-39BC-1199-7268-E721ED6726F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8A599F-8E17-984E-CE5E-9B2A30600350}"/>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396126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FA62-A942-0F18-6E48-082A98D9A78D}"/>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8447357-FF53-569C-6CE4-A465E89A5F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81602BE-63A9-F54C-AE58-682B89B862A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B52D328-8D11-02AA-7BF1-5A95352240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9C8504-3314-0506-88ED-0874B14D425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E626933-FCC9-0659-100E-EB1EB4F9124F}"/>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8" name="Footer Placeholder 7">
            <a:extLst>
              <a:ext uri="{FF2B5EF4-FFF2-40B4-BE49-F238E27FC236}">
                <a16:creationId xmlns:a16="http://schemas.microsoft.com/office/drawing/2014/main" id="{2F5AE396-5AB3-CB4D-4244-EAA9986FFCD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88E9DA4-7CC1-84FD-9AF7-73B46A67DEBD}"/>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1355483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F9BA4-C8DA-AABC-D8C5-32DE2943CC9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4CE2064-77C0-25F1-B77F-C2E5037CD2E4}"/>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4" name="Footer Placeholder 3">
            <a:extLst>
              <a:ext uri="{FF2B5EF4-FFF2-40B4-BE49-F238E27FC236}">
                <a16:creationId xmlns:a16="http://schemas.microsoft.com/office/drawing/2014/main" id="{9A1EB127-7167-2D61-A9DB-7014ECE5E0F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ECF6E52-BEA2-308C-CC07-59B42305DB59}"/>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322827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956DF-5C96-5EE8-EE7C-77385B3AECAF}"/>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3" name="Footer Placeholder 2">
            <a:extLst>
              <a:ext uri="{FF2B5EF4-FFF2-40B4-BE49-F238E27FC236}">
                <a16:creationId xmlns:a16="http://schemas.microsoft.com/office/drawing/2014/main" id="{F1C99A2B-FF1A-AEF6-76CD-21B1EAD1864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A94D33D-DC01-D46F-FD7F-EAE6EEBD0D2F}"/>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797225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390D-0C45-59DC-D46B-F46126CCD2C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BE259B1-F859-AD85-7D16-A61772BD39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AADEB10-CDFF-8AB3-A8B4-659FD0998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B7E3888-A7B1-0BEF-C792-E5F382342966}"/>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6" name="Footer Placeholder 5">
            <a:extLst>
              <a:ext uri="{FF2B5EF4-FFF2-40B4-BE49-F238E27FC236}">
                <a16:creationId xmlns:a16="http://schemas.microsoft.com/office/drawing/2014/main" id="{67D2247E-1630-CF14-E03A-ADF7EE8BE9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8C36F00-2222-42F2-8D6A-0653EC0FDF80}"/>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58303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86163-8DB1-701D-7B22-A34F3275B2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41202E9-F76B-A4C4-3185-9732D9101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4F7F15D-20FE-65DB-B21A-A5D38579D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F9F164-24E6-6E92-73C6-E1FE32A26F21}"/>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6" name="Footer Placeholder 5">
            <a:extLst>
              <a:ext uri="{FF2B5EF4-FFF2-40B4-BE49-F238E27FC236}">
                <a16:creationId xmlns:a16="http://schemas.microsoft.com/office/drawing/2014/main" id="{651C6AFB-206B-730D-60D6-2467AF962E5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77F7B6-F2BE-19FC-210F-CF1E07C2487E}"/>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2492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AFA2-59E3-9A22-CC6A-C080B521FE7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C563CDC-DEA6-CC63-2A86-6D7D03CD068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C1B321A-C589-2B09-94B0-46DF5F46CD62}"/>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5" name="Footer Placeholder 4">
            <a:extLst>
              <a:ext uri="{FF2B5EF4-FFF2-40B4-BE49-F238E27FC236}">
                <a16:creationId xmlns:a16="http://schemas.microsoft.com/office/drawing/2014/main" id="{6C843B6D-6F07-9DB1-DA65-5EF4EB0A6B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DD742C-8946-F0D9-E7A2-0DAB4BB27445}"/>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2549411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D28B78-AD5F-8103-200D-869036F8A36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877514A-8244-567B-338F-EBF7749DDD2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DA4F701-582A-6683-69C4-3590480F4F17}"/>
              </a:ext>
            </a:extLst>
          </p:cNvPr>
          <p:cNvSpPr>
            <a:spLocks noGrp="1"/>
          </p:cNvSpPr>
          <p:nvPr>
            <p:ph type="dt" sz="half" idx="10"/>
          </p:nvPr>
        </p:nvSpPr>
        <p:spPr/>
        <p:txBody>
          <a:bodyPr/>
          <a:lstStyle/>
          <a:p>
            <a:fld id="{FA3479FD-CDC2-4E38-A4BD-C407D89FCFCC}" type="datetimeFigureOut">
              <a:rPr lang="en-GB" smtClean="0"/>
              <a:t>08/04/2024</a:t>
            </a:fld>
            <a:endParaRPr lang="en-GB"/>
          </a:p>
        </p:txBody>
      </p:sp>
      <p:sp>
        <p:nvSpPr>
          <p:cNvPr id="5" name="Footer Placeholder 4">
            <a:extLst>
              <a:ext uri="{FF2B5EF4-FFF2-40B4-BE49-F238E27FC236}">
                <a16:creationId xmlns:a16="http://schemas.microsoft.com/office/drawing/2014/main" id="{5356FEEB-4C04-5AF3-0154-56A952BC29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B23CCB-6F65-4A35-81A6-9471EB7C6E3E}"/>
              </a:ext>
            </a:extLst>
          </p:cNvPr>
          <p:cNvSpPr>
            <a:spLocks noGrp="1"/>
          </p:cNvSpPr>
          <p:nvPr>
            <p:ph type="sldNum" sz="quarter" idx="12"/>
          </p:nvPr>
        </p:nvSpPr>
        <p:spPr/>
        <p:txBody>
          <a:bodyPr/>
          <a:lstStyle/>
          <a:p>
            <a:fld id="{A9993E3C-9A55-4FE4-B5FB-43AA649A8A90}" type="slidenum">
              <a:rPr lang="en-GB" smtClean="0"/>
              <a:t>‹#›</a:t>
            </a:fld>
            <a:endParaRPr lang="en-GB"/>
          </a:p>
        </p:txBody>
      </p:sp>
    </p:spTree>
    <p:extLst>
      <p:ext uri="{BB962C8B-B14F-4D97-AF65-F5344CB8AC3E}">
        <p14:creationId xmlns:p14="http://schemas.microsoft.com/office/powerpoint/2010/main" val="246933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E2D57F-304E-3BB8-B1A0-F5551E2A0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E42F3EF-E636-D875-B701-E431575058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740A657-B08A-23BF-345B-A10D1E1B3D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3479FD-CDC2-4E38-A4BD-C407D89FCFCC}" type="datetimeFigureOut">
              <a:rPr lang="en-GB" smtClean="0"/>
              <a:t>08/04/2024</a:t>
            </a:fld>
            <a:endParaRPr lang="en-GB"/>
          </a:p>
        </p:txBody>
      </p:sp>
      <p:sp>
        <p:nvSpPr>
          <p:cNvPr id="5" name="Footer Placeholder 4">
            <a:extLst>
              <a:ext uri="{FF2B5EF4-FFF2-40B4-BE49-F238E27FC236}">
                <a16:creationId xmlns:a16="http://schemas.microsoft.com/office/drawing/2014/main" id="{7A12A36A-317B-07BB-EF48-DD6ED32148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F2E8469-ED7D-EDE4-49B6-60296A02AB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93E3C-9A55-4FE4-B5FB-43AA649A8A90}" type="slidenum">
              <a:rPr lang="en-GB" smtClean="0"/>
              <a:t>‹#›</a:t>
            </a:fld>
            <a:endParaRPr lang="en-GB"/>
          </a:p>
        </p:txBody>
      </p:sp>
    </p:spTree>
    <p:extLst>
      <p:ext uri="{BB962C8B-B14F-4D97-AF65-F5344CB8AC3E}">
        <p14:creationId xmlns:p14="http://schemas.microsoft.com/office/powerpoint/2010/main" val="981685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293CC7A-30A5-FFCF-0298-2A6F03DF6E6F}"/>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590C0DC-2ADA-B470-8EC7-4976F6987F1D}"/>
              </a:ext>
            </a:extLst>
          </p:cNvPr>
          <p:cNvSpPr>
            <a:spLocks noGrp="1"/>
          </p:cNvSpPr>
          <p:nvPr>
            <p:ph type="title"/>
          </p:nvPr>
        </p:nvSpPr>
        <p:spPr>
          <a:xfrm>
            <a:off x="-213360" y="-174627"/>
            <a:ext cx="12192000" cy="2681289"/>
          </a:xfrm>
        </p:spPr>
        <p:txBody>
          <a:bodyPr/>
          <a:lstStyle/>
          <a:p>
            <a:r>
              <a:rPr lang="en-GB" dirty="0"/>
              <a:t>		    </a:t>
            </a:r>
            <a:r>
              <a:rPr lang="en-GB" u="sng" dirty="0"/>
              <a:t>The Twin Prime Conjecture</a:t>
            </a:r>
          </a:p>
        </p:txBody>
      </p:sp>
      <p:sp>
        <p:nvSpPr>
          <p:cNvPr id="3" name="Content Placeholder 2">
            <a:extLst>
              <a:ext uri="{FF2B5EF4-FFF2-40B4-BE49-F238E27FC236}">
                <a16:creationId xmlns:a16="http://schemas.microsoft.com/office/drawing/2014/main" id="{B13355C6-4507-D43E-BE92-7B1AE177BA07}"/>
              </a:ext>
            </a:extLst>
          </p:cNvPr>
          <p:cNvSpPr>
            <a:spLocks noGrp="1"/>
          </p:cNvSpPr>
          <p:nvPr>
            <p:ph idx="1"/>
          </p:nvPr>
        </p:nvSpPr>
        <p:spPr>
          <a:xfrm>
            <a:off x="4724400" y="4351339"/>
            <a:ext cx="10515600" cy="4629944"/>
          </a:xfrm>
        </p:spPr>
        <p:txBody>
          <a:bodyPr/>
          <a:lstStyle/>
          <a:p>
            <a:pPr marL="0" indent="0">
              <a:buNone/>
            </a:pPr>
            <a:r>
              <a:rPr lang="en-GB" dirty="0"/>
              <a:t>				   </a:t>
            </a:r>
            <a:r>
              <a:rPr lang="en-GB" sz="3200" dirty="0"/>
              <a:t>by Daniel Jackson</a:t>
            </a:r>
          </a:p>
        </p:txBody>
      </p:sp>
    </p:spTree>
    <p:extLst>
      <p:ext uri="{BB962C8B-B14F-4D97-AF65-F5344CB8AC3E}">
        <p14:creationId xmlns:p14="http://schemas.microsoft.com/office/powerpoint/2010/main" val="3720743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C888A9-CE79-6D62-225A-6EE505129622}"/>
              </a:ext>
            </a:extLst>
          </p:cNvPr>
          <p:cNvSpPr>
            <a:spLocks noGrp="1"/>
          </p:cNvSpPr>
          <p:nvPr>
            <p:ph idx="1"/>
          </p:nvPr>
        </p:nvSpPr>
        <p:spPr>
          <a:xfrm>
            <a:off x="838200" y="563880"/>
            <a:ext cx="10515600" cy="5613083"/>
          </a:xfrm>
        </p:spPr>
        <p:txBody>
          <a:bodyPr>
            <a:normAutofit lnSpcReduction="10000"/>
          </a:bodyPr>
          <a:lstStyle/>
          <a:p>
            <a:r>
              <a:rPr lang="en-GB" dirty="0"/>
              <a:t>Talk Structure:</a:t>
            </a:r>
          </a:p>
          <a:p>
            <a:r>
              <a:rPr lang="en-GB" dirty="0"/>
              <a:t>Importance in Number Theory and Applications </a:t>
            </a:r>
          </a:p>
          <a:p>
            <a:r>
              <a:rPr lang="en-GB" dirty="0"/>
              <a:t>History and what the twin prime conjecture states/ different forms  </a:t>
            </a:r>
          </a:p>
          <a:p>
            <a:r>
              <a:rPr lang="en-GB" dirty="0"/>
              <a:t>Some trivial properties </a:t>
            </a:r>
          </a:p>
          <a:p>
            <a:r>
              <a:rPr lang="en-GB" dirty="0"/>
              <a:t>An introduction to Sieve Theory and Brun’s Theorem </a:t>
            </a:r>
          </a:p>
          <a:p>
            <a:r>
              <a:rPr lang="en-GB" dirty="0"/>
              <a:t>Examples of Prime Distributions </a:t>
            </a:r>
          </a:p>
          <a:p>
            <a:r>
              <a:rPr lang="en-GB" dirty="0"/>
              <a:t>Recent work: Yitang Zhang, James Maynard and the Polymath Project </a:t>
            </a:r>
          </a:p>
          <a:p>
            <a:r>
              <a:rPr lang="en-GB" dirty="0"/>
              <a:t>Key points</a:t>
            </a:r>
          </a:p>
          <a:p>
            <a:pPr marL="0" indent="0">
              <a:buNone/>
            </a:pPr>
            <a:endParaRPr lang="en-GB" dirty="0"/>
          </a:p>
          <a:p>
            <a:pPr marL="0" indent="0">
              <a:buNone/>
            </a:pPr>
            <a:r>
              <a:rPr lang="en-GB" dirty="0"/>
              <a:t>Why mathematicians continue to attempt to work on this conjecture</a:t>
            </a:r>
          </a:p>
        </p:txBody>
      </p:sp>
    </p:spTree>
    <p:extLst>
      <p:ext uri="{BB962C8B-B14F-4D97-AF65-F5344CB8AC3E}">
        <p14:creationId xmlns:p14="http://schemas.microsoft.com/office/powerpoint/2010/main" val="1401734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77A4-0CF2-5390-115C-E1C802828923}"/>
              </a:ext>
            </a:extLst>
          </p:cNvPr>
          <p:cNvSpPr>
            <a:spLocks noGrp="1"/>
          </p:cNvSpPr>
          <p:nvPr>
            <p:ph type="title"/>
          </p:nvPr>
        </p:nvSpPr>
        <p:spPr/>
        <p:txBody>
          <a:bodyPr/>
          <a:lstStyle/>
          <a:p>
            <a:r>
              <a:rPr lang="en-GB" dirty="0"/>
              <a:t>Importance to Number Theory and Applications</a:t>
            </a:r>
          </a:p>
        </p:txBody>
      </p:sp>
      <p:sp>
        <p:nvSpPr>
          <p:cNvPr id="3" name="Content Placeholder 2">
            <a:extLst>
              <a:ext uri="{FF2B5EF4-FFF2-40B4-BE49-F238E27FC236}">
                <a16:creationId xmlns:a16="http://schemas.microsoft.com/office/drawing/2014/main" id="{58230A6E-C61F-5921-019D-CAC6BAF20C07}"/>
              </a:ext>
            </a:extLst>
          </p:cNvPr>
          <p:cNvSpPr>
            <a:spLocks noGrp="1"/>
          </p:cNvSpPr>
          <p:nvPr>
            <p:ph idx="1"/>
          </p:nvPr>
        </p:nvSpPr>
        <p:spPr/>
        <p:txBody>
          <a:bodyPr>
            <a:normAutofit fontScale="92500" lnSpcReduction="20000"/>
          </a:bodyPr>
          <a:lstStyle/>
          <a:p>
            <a:r>
              <a:rPr lang="en-GB" dirty="0"/>
              <a:t>Understanding the distribution of the prime numbers is fundamental to both number theory and cryptography; both hugely relevant and important topics to researchers today.</a:t>
            </a:r>
          </a:p>
          <a:p>
            <a:r>
              <a:rPr lang="en-GB" dirty="0"/>
              <a:t>Cryptography is responsible for the encryption of most today’s information. We use prime numbers in prominent (asymmetric) cryptographical algorithms today (RSA, ECC and DSA being main examples)</a:t>
            </a:r>
          </a:p>
          <a:p>
            <a:r>
              <a:rPr lang="en-GB" dirty="0"/>
              <a:t>A better understanding of twin primes helps mathematicians develop techniques to help solve other related problems. Both Sieve Theory and the Circle Method have either been used to understand twin primes after being developed in other fields or have been used to better understand other fields after techniques have been developed studying twin primes.</a:t>
            </a:r>
          </a:p>
        </p:txBody>
      </p:sp>
    </p:spTree>
    <p:extLst>
      <p:ext uri="{BB962C8B-B14F-4D97-AF65-F5344CB8AC3E}">
        <p14:creationId xmlns:p14="http://schemas.microsoft.com/office/powerpoint/2010/main" val="1248153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1E92-76B8-49DC-5966-0A04AE48ABB3}"/>
              </a:ext>
            </a:extLst>
          </p:cNvPr>
          <p:cNvSpPr>
            <a:spLocks noGrp="1"/>
          </p:cNvSpPr>
          <p:nvPr>
            <p:ph type="title"/>
          </p:nvPr>
        </p:nvSpPr>
        <p:spPr/>
        <p:txBody>
          <a:bodyPr/>
          <a:lstStyle/>
          <a:p>
            <a:r>
              <a:rPr lang="en-GB" dirty="0"/>
              <a:t>What is the Twin Prime Conjecture?</a:t>
            </a:r>
          </a:p>
        </p:txBody>
      </p:sp>
      <p:sp>
        <p:nvSpPr>
          <p:cNvPr id="3" name="Content Placeholder 2">
            <a:extLst>
              <a:ext uri="{FF2B5EF4-FFF2-40B4-BE49-F238E27FC236}">
                <a16:creationId xmlns:a16="http://schemas.microsoft.com/office/drawing/2014/main" id="{2E909CD6-4926-4776-BFFB-EA551F522047}"/>
              </a:ext>
            </a:extLst>
          </p:cNvPr>
          <p:cNvSpPr>
            <a:spLocks noGrp="1"/>
          </p:cNvSpPr>
          <p:nvPr>
            <p:ph idx="1"/>
          </p:nvPr>
        </p:nvSpPr>
        <p:spPr/>
        <p:txBody>
          <a:bodyPr>
            <a:normAutofit fontScale="92500" lnSpcReduction="20000"/>
          </a:bodyPr>
          <a:lstStyle/>
          <a:p>
            <a:r>
              <a:rPr lang="en-GB" dirty="0"/>
              <a:t>The Twin Prime Conjecture has been written in many different forms; however, I believe the simplest to be:</a:t>
            </a:r>
          </a:p>
          <a:p>
            <a:r>
              <a:rPr lang="en-GB" dirty="0"/>
              <a:t>There exist infinitely many pairs of natural numbers p, p+2 such that both the numbers are prime </a:t>
            </a:r>
          </a:p>
          <a:p>
            <a:r>
              <a:rPr lang="en-GB" dirty="0"/>
              <a:t>Some examples of twin primes would be: {3,5}, {5,7}, {11,13}, {17,19}, {101,103}, {197,199}, {99989, 99991}.</a:t>
            </a:r>
          </a:p>
          <a:p>
            <a:r>
              <a:rPr lang="en-GB" dirty="0"/>
              <a:t>There are various ways we can check primes, known as primality tests, that we can use to check whether numbers are prime. Computers use methods to check for primes.</a:t>
            </a:r>
          </a:p>
          <a:p>
            <a:r>
              <a:rPr lang="en-GB" dirty="0"/>
              <a:t>As of 2022, the largest known twin prime pair is</a:t>
            </a:r>
          </a:p>
          <a:p>
            <a:pPr marL="0" indent="0">
              <a:buNone/>
            </a:pPr>
            <a:r>
              <a:rPr lang="en-GB" dirty="0"/>
              <a:t>    2996863034895 × 2</a:t>
            </a:r>
            <a:r>
              <a:rPr lang="en-GB" baseline="30000" dirty="0"/>
              <a:t>1290000</a:t>
            </a:r>
            <a:r>
              <a:rPr lang="en-GB" dirty="0"/>
              <a:t> ± 1. (388342 digits) </a:t>
            </a:r>
          </a:p>
          <a:p>
            <a:pPr marL="0" indent="0">
              <a:buNone/>
            </a:pPr>
            <a:endParaRPr lang="en-GB" sz="1300" dirty="0"/>
          </a:p>
          <a:p>
            <a:pPr marL="0" indent="0">
              <a:buNone/>
            </a:pPr>
            <a:r>
              <a:rPr lang="en-GB" sz="1300" dirty="0"/>
              <a:t>(http://www.primegrid.com/forum_thread.php?id=7021)</a:t>
            </a:r>
            <a:endParaRPr lang="en-GB" dirty="0"/>
          </a:p>
          <a:p>
            <a:pPr marL="0" indent="0">
              <a:buNone/>
            </a:pPr>
            <a:endParaRPr lang="en-GB" dirty="0"/>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2880948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05F26-00B5-A634-5EFC-F43713005260}"/>
              </a:ext>
            </a:extLst>
          </p:cNvPr>
          <p:cNvSpPr>
            <a:spLocks noGrp="1"/>
          </p:cNvSpPr>
          <p:nvPr>
            <p:ph type="title"/>
          </p:nvPr>
        </p:nvSpPr>
        <p:spPr/>
        <p:txBody>
          <a:bodyPr/>
          <a:lstStyle/>
          <a:p>
            <a:r>
              <a:rPr lang="en-GB" dirty="0"/>
              <a:t>History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278301-9832-4DB3-EE10-E395AEACEA0A}"/>
                  </a:ext>
                </a:extLst>
              </p:cNvPr>
              <p:cNvSpPr>
                <a:spLocks noGrp="1"/>
              </p:cNvSpPr>
              <p:nvPr>
                <p:ph idx="1"/>
              </p:nvPr>
            </p:nvSpPr>
            <p:spPr/>
            <p:txBody>
              <a:bodyPr/>
              <a:lstStyle/>
              <a:p>
                <a:r>
                  <a:rPr lang="en-GB" sz="2400" dirty="0"/>
                  <a:t>The Twin Prime Conjecture was first explicitly formulated in a general form by Polignac in 1849:</a:t>
                </a:r>
              </a:p>
              <a:p>
                <a:r>
                  <a:rPr lang="en-GB" sz="2400" dirty="0"/>
                  <a:t>There are infinitely many primes p such that p and p+2k are both primes. (k=1 is our Twin Prime Conjecture)</a:t>
                </a:r>
              </a:p>
              <a:p>
                <a:r>
                  <a:rPr lang="en-GB" sz="2400" dirty="0"/>
                  <a:t>Chebyshev proved Bertrand’s postulate in 1852, which states that </a:t>
                </a:r>
              </a:p>
              <a:p>
                <a:pPr marL="0" indent="0">
                  <a:buNone/>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𝑛</m:t>
                        </m:r>
                        <m:r>
                          <a:rPr lang="en-GB" sz="2400" b="0" i="1" smtClean="0">
                            <a:latin typeface="Cambria Math" panose="02040503050406030204" pitchFamily="18" charset="0"/>
                          </a:rPr>
                          <m:t>+1</m:t>
                        </m:r>
                      </m:sub>
                    </m:sSub>
                    <m:r>
                      <a:rPr lang="en-GB" sz="2400" i="1" smtClean="0">
                        <a:latin typeface="Cambria Math" panose="02040503050406030204" pitchFamily="18" charset="0"/>
                        <a:ea typeface="Cambria Math" panose="02040503050406030204" pitchFamily="18" charset="0"/>
                      </a:rPr>
                      <m:t>&lt;</m:t>
                    </m:r>
                    <m:r>
                      <a:rPr lang="en-GB" sz="2400" b="0" i="1" smtClean="0">
                        <a:latin typeface="Cambria Math" panose="02040503050406030204" pitchFamily="18" charset="0"/>
                        <a:ea typeface="Cambria Math" panose="02040503050406030204" pitchFamily="18" charset="0"/>
                      </a:rPr>
                      <m:t>2</m:t>
                    </m:r>
                    <m:sSub>
                      <m:sSubPr>
                        <m:ctrlPr>
                          <a:rPr lang="en-GB" sz="2400" b="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𝑝</m:t>
                        </m:r>
                      </m:e>
                      <m:sub>
                        <m:r>
                          <a:rPr lang="en-GB" sz="2400" b="0" i="1" smtClean="0">
                            <a:latin typeface="Cambria Math" panose="02040503050406030204" pitchFamily="18" charset="0"/>
                            <a:ea typeface="Cambria Math" panose="02040503050406030204" pitchFamily="18" charset="0"/>
                          </a:rPr>
                          <m:t>𝑛</m:t>
                        </m:r>
                      </m:sub>
                    </m:sSub>
                  </m:oMath>
                </a14:m>
                <a:r>
                  <a:rPr lang="en-GB" sz="2400" dirty="0"/>
                  <a:t> where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𝑛</m:t>
                        </m:r>
                      </m:sub>
                    </m:sSub>
                  </m:oMath>
                </a14:m>
                <a:r>
                  <a:rPr lang="en-GB" sz="2400" dirty="0"/>
                  <a:t>, </a:t>
                </a:r>
                <a14:m>
                  <m:oMath xmlns:m="http://schemas.openxmlformats.org/officeDocument/2006/math">
                    <m:sSub>
                      <m:sSubPr>
                        <m:ctrlPr>
                          <a:rPr lang="en-GB" sz="2400" i="1" dirty="0" smtClean="0">
                            <a:latin typeface="Cambria Math" panose="02040503050406030204" pitchFamily="18" charset="0"/>
                          </a:rPr>
                        </m:ctrlPr>
                      </m:sSubPr>
                      <m:e>
                        <m:r>
                          <a:rPr lang="en-GB" sz="2400" b="0" i="1" dirty="0" smtClean="0">
                            <a:latin typeface="Cambria Math" panose="02040503050406030204" pitchFamily="18" charset="0"/>
                          </a:rPr>
                          <m:t>𝑝</m:t>
                        </m:r>
                      </m:e>
                      <m:sub>
                        <m:r>
                          <a:rPr lang="en-GB" sz="2400" b="0" i="1" dirty="0" smtClean="0">
                            <a:latin typeface="Cambria Math" panose="02040503050406030204" pitchFamily="18" charset="0"/>
                          </a:rPr>
                          <m:t>𝑛</m:t>
                        </m:r>
                        <m:r>
                          <a:rPr lang="en-GB" sz="2400" b="0" i="1" dirty="0" smtClean="0">
                            <a:latin typeface="Cambria Math" panose="02040503050406030204" pitchFamily="18" charset="0"/>
                          </a:rPr>
                          <m:t>+1</m:t>
                        </m:r>
                      </m:sub>
                    </m:sSub>
                  </m:oMath>
                </a14:m>
                <a:r>
                  <a:rPr lang="en-GB" sz="2400" dirty="0"/>
                  <a:t> are prime.</a:t>
                </a:r>
              </a:p>
              <a:p>
                <a:r>
                  <a:rPr lang="en-GB" sz="2400" dirty="0"/>
                  <a:t>Brun showed that the sum of the reciprocals of the twin primes was convergent in 1915, and his argument, using the Brun sieve, shows that the number will not exceed a given constant around 2.</a:t>
                </a:r>
                <a:endParaRPr lang="en-GB" dirty="0"/>
              </a:p>
            </p:txBody>
          </p:sp>
        </mc:Choice>
        <mc:Fallback>
          <p:sp>
            <p:nvSpPr>
              <p:cNvPr id="3" name="Content Placeholder 2">
                <a:extLst>
                  <a:ext uri="{FF2B5EF4-FFF2-40B4-BE49-F238E27FC236}">
                    <a16:creationId xmlns:a16="http://schemas.microsoft.com/office/drawing/2014/main" id="{AB278301-9832-4DB3-EE10-E395AEACEA0A}"/>
                  </a:ext>
                </a:extLst>
              </p:cNvPr>
              <p:cNvSpPr>
                <a:spLocks noGrp="1" noRot="1" noChangeAspect="1" noMove="1" noResize="1" noEditPoints="1" noAdjustHandles="1" noChangeArrowheads="1" noChangeShapeType="1" noTextEdit="1"/>
              </p:cNvSpPr>
              <p:nvPr>
                <p:ph idx="1"/>
              </p:nvPr>
            </p:nvSpPr>
            <p:spPr>
              <a:blipFill>
                <a:blip r:embed="rId2"/>
                <a:stretch>
                  <a:fillRect l="-812" t="-1821" r="-812"/>
                </a:stretch>
              </a:blipFill>
            </p:spPr>
            <p:txBody>
              <a:bodyPr/>
              <a:lstStyle/>
              <a:p>
                <a:r>
                  <a:rPr lang="en-GB">
                    <a:noFill/>
                  </a:rPr>
                  <a:t> </a:t>
                </a:r>
              </a:p>
            </p:txBody>
          </p:sp>
        </mc:Fallback>
      </mc:AlternateContent>
    </p:spTree>
    <p:extLst>
      <p:ext uri="{BB962C8B-B14F-4D97-AF65-F5344CB8AC3E}">
        <p14:creationId xmlns:p14="http://schemas.microsoft.com/office/powerpoint/2010/main" val="1308233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8E85-3241-E0B0-171D-28C048054441}"/>
              </a:ext>
            </a:extLst>
          </p:cNvPr>
          <p:cNvSpPr>
            <a:spLocks noGrp="1"/>
          </p:cNvSpPr>
          <p:nvPr>
            <p:ph type="title"/>
          </p:nvPr>
        </p:nvSpPr>
        <p:spPr/>
        <p:txBody>
          <a:bodyPr/>
          <a:lstStyle/>
          <a:p>
            <a:r>
              <a:rPr lang="en-GB" dirty="0"/>
              <a:t>Some Trivial Properties of Twin Primes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C32BD4-D9E2-331D-9ED3-DD2B53DF76B4}"/>
                  </a:ext>
                </a:extLst>
              </p:cNvPr>
              <p:cNvSpPr>
                <a:spLocks noGrp="1"/>
              </p:cNvSpPr>
              <p:nvPr>
                <p:ph idx="1"/>
              </p:nvPr>
            </p:nvSpPr>
            <p:spPr/>
            <p:txBody>
              <a:bodyPr>
                <a:normAutofit fontScale="92500" lnSpcReduction="20000"/>
              </a:bodyPr>
              <a:lstStyle/>
              <a:p>
                <a:r>
                  <a:rPr lang="en-GB" dirty="0"/>
                  <a:t>For primes p or p+2 that are part of a twin prime pair (excluding 3):</a:t>
                </a:r>
                <a:endParaRPr lang="en-GB" b="0" dirty="0"/>
              </a:p>
              <a:p>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r>
                          <a:rPr lang="en-GB" b="0" i="1" smtClean="0">
                            <a:latin typeface="Cambria Math" panose="02040503050406030204" pitchFamily="18" charset="0"/>
                          </a:rPr>
                          <m:t>+2</m:t>
                        </m:r>
                      </m:e>
                    </m:d>
                    <m:r>
                      <a:rPr lang="en-GB" b="0" i="1" smtClean="0">
                        <a:latin typeface="Cambria Math" panose="02040503050406030204" pitchFamily="18" charset="0"/>
                      </a:rPr>
                      <m:t>=8</m:t>
                    </m:r>
                    <m:r>
                      <m:rPr>
                        <m:sty m:val="p"/>
                      </m:rPr>
                      <a:rPr lang="en-GB" b="0" i="0" smtClean="0">
                        <a:latin typeface="Cambria Math" panose="02040503050406030204" pitchFamily="18" charset="0"/>
                      </a:rPr>
                      <m:t>mod</m:t>
                    </m:r>
                    <m:r>
                      <a:rPr lang="en-GB" b="0" i="1" smtClean="0">
                        <a:latin typeface="Cambria Math" panose="02040503050406030204" pitchFamily="18" charset="0"/>
                      </a:rPr>
                      <m:t>9</m:t>
                    </m:r>
                  </m:oMath>
                </a14:m>
                <a:r>
                  <a:rPr lang="en-GB" dirty="0"/>
                  <a:t>, or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r>
                          <a:rPr lang="en-GB" b="0" i="1" smtClean="0">
                            <a:latin typeface="Cambria Math" panose="02040503050406030204" pitchFamily="18" charset="0"/>
                          </a:rPr>
                          <m:t>+2</m:t>
                        </m:r>
                      </m:e>
                    </m:d>
                    <m:r>
                      <a:rPr lang="en-GB" b="0" i="1" smtClean="0">
                        <a:latin typeface="Cambria Math" panose="02040503050406030204" pitchFamily="18" charset="0"/>
                      </a:rPr>
                      <m:t>=9</m:t>
                    </m:r>
                    <m:r>
                      <a:rPr lang="en-GB" b="0" i="1" smtClean="0">
                        <a:latin typeface="Cambria Math" panose="02040503050406030204" pitchFamily="18" charset="0"/>
                      </a:rPr>
                      <m:t>𝑘</m:t>
                    </m:r>
                    <m:r>
                      <a:rPr lang="en-GB" b="0" i="1" smtClean="0">
                        <a:latin typeface="Cambria Math" panose="02040503050406030204" pitchFamily="18" charset="0"/>
                      </a:rPr>
                      <m:t> −1</m:t>
                    </m:r>
                  </m:oMath>
                </a14:m>
                <a:r>
                  <a:rPr lang="en-GB" dirty="0"/>
                  <a:t> for some integer </a:t>
                </a:r>
                <a:r>
                  <a:rPr lang="en-GB" i="1" dirty="0"/>
                  <a:t>k</a:t>
                </a:r>
                <a:endParaRPr lang="en-GB" dirty="0"/>
              </a:p>
              <a:p>
                <a14:m>
                  <m:oMath xmlns:m="http://schemas.openxmlformats.org/officeDocument/2006/math">
                    <m:r>
                      <a:rPr lang="en-GB" b="0" i="1" smtClean="0">
                        <a:latin typeface="Cambria Math" panose="02040503050406030204" pitchFamily="18" charset="0"/>
                        <a:ea typeface="Cambria Math" panose="02040503050406030204" pitchFamily="18" charset="0"/>
                      </a:rPr>
                      <m:t>𝑝</m:t>
                    </m:r>
                    <m:r>
                      <a:rPr lang="en-GB" b="0" i="1" smtClean="0">
                        <a:latin typeface="Cambria Math" panose="02040503050406030204" pitchFamily="18" charset="0"/>
                        <a:ea typeface="Cambria Math" panose="02040503050406030204" pitchFamily="18" charset="0"/>
                      </a:rPr>
                      <m:t>=6</m:t>
                    </m:r>
                    <m:r>
                      <a:rPr lang="en-GB" b="0" i="1" smtClean="0">
                        <a:latin typeface="Cambria Math" panose="02040503050406030204" pitchFamily="18" charset="0"/>
                        <a:ea typeface="Cambria Math" panose="02040503050406030204" pitchFamily="18" charset="0"/>
                      </a:rPr>
                      <m:t>𝑙</m:t>
                    </m:r>
                    <m:r>
                      <a:rPr lang="en-GB" b="0" i="1" smtClean="0">
                        <a:latin typeface="Cambria Math" panose="02040503050406030204" pitchFamily="18" charset="0"/>
                        <a:ea typeface="Cambria Math" panose="02040503050406030204" pitchFamily="18" charset="0"/>
                      </a:rPr>
                      <m:t>±1</m:t>
                    </m:r>
                  </m:oMath>
                </a14:m>
                <a:r>
                  <a:rPr lang="en-GB" dirty="0">
                    <a:latin typeface="Cambria Math" panose="02040503050406030204" pitchFamily="18" charset="0"/>
                    <a:ea typeface="Cambria Math" panose="02040503050406030204" pitchFamily="18" charset="0"/>
                  </a:rPr>
                  <a:t> or </a:t>
                </a:r>
                <a14:m>
                  <m:oMath xmlns:m="http://schemas.openxmlformats.org/officeDocument/2006/math">
                    <m:r>
                      <a:rPr lang="en-GB" b="0" i="1" smtClean="0">
                        <a:latin typeface="Cambria Math" panose="02040503050406030204" pitchFamily="18" charset="0"/>
                        <a:ea typeface="Cambria Math" panose="02040503050406030204" pitchFamily="18" charset="0"/>
                      </a:rPr>
                      <m:t>1</m:t>
                    </m:r>
                    <m:r>
                      <m:rPr>
                        <m:sty m:val="p"/>
                      </m:rPr>
                      <a:rPr lang="en-GB" b="0" i="0" smtClean="0">
                        <a:latin typeface="Cambria Math" panose="02040503050406030204" pitchFamily="18" charset="0"/>
                        <a:ea typeface="Cambria Math" panose="02040503050406030204" pitchFamily="18" charset="0"/>
                      </a:rPr>
                      <m:t>mod</m:t>
                    </m:r>
                    <m:r>
                      <a:rPr lang="en-GB" b="0" i="1" smtClean="0">
                        <a:latin typeface="Cambria Math" panose="02040503050406030204" pitchFamily="18" charset="0"/>
                        <a:ea typeface="Cambria Math" panose="02040503050406030204" pitchFamily="18" charset="0"/>
                      </a:rPr>
                      <m:t>6</m:t>
                    </m:r>
                  </m:oMath>
                </a14:m>
                <a:r>
                  <a:rPr lang="en-GB" dirty="0">
                    <a:latin typeface="Cambria Math" panose="02040503050406030204" pitchFamily="18" charset="0"/>
                    <a:ea typeface="Cambria Math" panose="02040503050406030204" pitchFamily="18" charset="0"/>
                  </a:rPr>
                  <a:t> or </a:t>
                </a:r>
                <a14:m>
                  <m:oMath xmlns:m="http://schemas.openxmlformats.org/officeDocument/2006/math">
                    <m:r>
                      <a:rPr lang="en-GB" b="0" i="1" smtClean="0">
                        <a:latin typeface="Cambria Math" panose="02040503050406030204" pitchFamily="18" charset="0"/>
                        <a:ea typeface="Cambria Math" panose="02040503050406030204" pitchFamily="18" charset="0"/>
                      </a:rPr>
                      <m:t>5</m:t>
                    </m:r>
                    <m:r>
                      <m:rPr>
                        <m:sty m:val="p"/>
                      </m:rPr>
                      <a:rPr lang="en-GB" b="0" i="0" smtClean="0">
                        <a:latin typeface="Cambria Math" panose="02040503050406030204" pitchFamily="18" charset="0"/>
                        <a:ea typeface="Cambria Math" panose="02040503050406030204" pitchFamily="18" charset="0"/>
                      </a:rPr>
                      <m:t>mod</m:t>
                    </m:r>
                    <m:r>
                      <a:rPr lang="en-GB" b="0" i="1" smtClean="0">
                        <a:latin typeface="Cambria Math" panose="02040503050406030204" pitchFamily="18" charset="0"/>
                        <a:ea typeface="Cambria Math" panose="02040503050406030204" pitchFamily="18" charset="0"/>
                      </a:rPr>
                      <m:t>6</m:t>
                    </m:r>
                  </m:oMath>
                </a14:m>
                <a:r>
                  <a:rPr lang="en-GB" dirty="0">
                    <a:latin typeface="Cambria Math" panose="02040503050406030204" pitchFamily="18" charset="0"/>
                    <a:ea typeface="Cambria Math" panose="02040503050406030204" pitchFamily="18" charset="0"/>
                  </a:rPr>
                  <a:t> </a:t>
                </a:r>
              </a:p>
              <a:p>
                <a:endParaRPr lang="en-GB" dirty="0"/>
              </a:p>
              <a:p>
                <a:r>
                  <a:rPr lang="en-GB" dirty="0"/>
                  <a:t>Another (arguably non-trivial) interesting result is that, using Wilson’s theorem (a number, </a:t>
                </a:r>
                <a:r>
                  <a:rPr lang="en-GB" i="1" dirty="0"/>
                  <a:t>n</a:t>
                </a:r>
                <a:r>
                  <a:rPr lang="en-GB" dirty="0"/>
                  <a:t>, is prime iff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−1</m:t>
                        </m:r>
                      </m:e>
                    </m:d>
                    <m:r>
                      <a:rPr lang="en-GB" b="0" i="1" smtClean="0">
                        <a:latin typeface="Cambria Math" panose="02040503050406030204" pitchFamily="18" charset="0"/>
                      </a:rPr>
                      <m:t>!+1</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0</m:t>
                    </m:r>
                    <m:r>
                      <m:rPr>
                        <m:sty m:val="p"/>
                      </m:rPr>
                      <a:rPr lang="en-GB" b="0" i="0" smtClean="0">
                        <a:latin typeface="Cambria Math" panose="02040503050406030204" pitchFamily="18" charset="0"/>
                      </a:rPr>
                      <m:t>mod</m:t>
                    </m:r>
                    <m:r>
                      <a:rPr lang="en-GB" b="0" i="1" smtClean="0">
                        <a:latin typeface="Cambria Math" panose="02040503050406030204" pitchFamily="18" charset="0"/>
                      </a:rPr>
                      <m:t>𝑛</m:t>
                    </m:r>
                  </m:oMath>
                </a14:m>
                <a:r>
                  <a:rPr lang="en-GB" dirty="0"/>
                  <a:t>):</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4</m:t>
                      </m:r>
                      <m:d>
                        <m:dPr>
                          <m:ctrlPr>
                            <a:rPr lang="en-GB" b="0" i="1" smtClean="0">
                              <a:latin typeface="Cambria Math" panose="02040503050406030204" pitchFamily="18" charset="0"/>
                            </a:rPr>
                          </m:ctrlPr>
                        </m:dPr>
                        <m:e>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−1</m:t>
                              </m:r>
                            </m:e>
                          </m:d>
                          <m:r>
                            <a:rPr lang="en-GB" b="0" i="1" smtClean="0">
                              <a:latin typeface="Cambria Math" panose="02040503050406030204" pitchFamily="18" charset="0"/>
                            </a:rPr>
                            <m:t>!+1</m:t>
                          </m:r>
                        </m:e>
                      </m:d>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0</m:t>
                      </m:r>
                      <m:r>
                        <m:rPr>
                          <m:sty m:val="p"/>
                        </m:rPr>
                        <a:rPr lang="en-GB" b="0" i="0" smtClean="0">
                          <a:latin typeface="Cambria Math" panose="02040503050406030204" pitchFamily="18" charset="0"/>
                        </a:rPr>
                        <m:t>mod</m:t>
                      </m:r>
                      <m:r>
                        <a:rPr lang="en-GB" b="0" i="0" smtClean="0">
                          <a:latin typeface="Cambria Math" panose="02040503050406030204" pitchFamily="18" charset="0"/>
                        </a:rPr>
                        <m:t>(</m:t>
                      </m:r>
                      <m:r>
                        <a:rPr lang="en-GB" b="0" i="1" smtClean="0">
                          <a:latin typeface="Cambria Math" panose="02040503050406030204" pitchFamily="18" charset="0"/>
                        </a:rPr>
                        <m:t>𝑛</m:t>
                      </m:r>
                      <m:r>
                        <a:rPr lang="en-GB" b="0" i="0" smtClean="0">
                          <a:latin typeface="Cambria Math" panose="02040503050406030204" pitchFamily="18" charset="0"/>
                        </a:rPr>
                        <m:t>(</m:t>
                      </m:r>
                      <m:r>
                        <a:rPr lang="en-GB" b="0" i="1" smtClean="0">
                          <a:latin typeface="Cambria Math" panose="02040503050406030204" pitchFamily="18" charset="0"/>
                        </a:rPr>
                        <m:t>𝑛</m:t>
                      </m:r>
                      <m:r>
                        <a:rPr lang="en-GB" b="0" i="0" smtClean="0">
                          <a:latin typeface="Cambria Math" panose="02040503050406030204" pitchFamily="18" charset="0"/>
                        </a:rPr>
                        <m:t>+2))</m:t>
                      </m:r>
                    </m:oMath>
                  </m:oMathPara>
                </a14:m>
                <a:endParaRPr lang="en-GB" dirty="0"/>
              </a:p>
              <a:p>
                <a:pPr marL="0" indent="0">
                  <a:buNone/>
                </a:pPr>
                <a:r>
                  <a:rPr lang="en-GB" dirty="0"/>
                  <a:t>iff </a:t>
                </a:r>
                <a:r>
                  <a:rPr lang="en-GB" i="1" dirty="0"/>
                  <a:t>n</a:t>
                </a:r>
                <a:r>
                  <a:rPr lang="en-GB" dirty="0"/>
                  <a:t> and </a:t>
                </a:r>
                <a:r>
                  <a:rPr lang="en-GB" i="1" dirty="0"/>
                  <a:t>n</a:t>
                </a:r>
                <a:r>
                  <a:rPr lang="en-GB" dirty="0"/>
                  <a:t>+2 are prime numbers.</a:t>
                </a:r>
              </a:p>
              <a:p>
                <a:pPr marL="0" indent="0">
                  <a:buNone/>
                </a:pPr>
                <a:r>
                  <a:rPr lang="en-GB" dirty="0"/>
                  <a:t>(Please note that, more generally, </a:t>
                </a:r>
                <a:r>
                  <a:rPr lang="en-GB" dirty="0">
                    <a:latin typeface="Cambria Math" panose="02040503050406030204" pitchFamily="18" charset="0"/>
                    <a:ea typeface="Cambria Math" panose="02040503050406030204" pitchFamily="18" charset="0"/>
                  </a:rPr>
                  <a:t>kmod(a)</a:t>
                </a:r>
                <a:r>
                  <a:rPr lang="en-GB" i="1" dirty="0">
                    <a:latin typeface="Cambria Math" panose="02040503050406030204" pitchFamily="18" charset="0"/>
                    <a:ea typeface="Cambria Math" panose="02040503050406030204" pitchFamily="18" charset="0"/>
                  </a:rPr>
                  <a:t> </a:t>
                </a:r>
                <a:r>
                  <a:rPr lang="en-GB" dirty="0"/>
                  <a:t>for some number </a:t>
                </a:r>
                <a:r>
                  <a:rPr lang="en-GB" i="1" dirty="0"/>
                  <a:t>b</a:t>
                </a:r>
                <a:r>
                  <a:rPr lang="en-GB" dirty="0"/>
                  <a:t> means that we have </a:t>
                </a:r>
                <a:r>
                  <a:rPr lang="en-GB" i="1" dirty="0"/>
                  <a:t>a</a:t>
                </a:r>
                <a:r>
                  <a:rPr lang="en-GB" dirty="0"/>
                  <a:t> remainder </a:t>
                </a:r>
                <a:r>
                  <a:rPr lang="en-GB" i="1" dirty="0"/>
                  <a:t>k</a:t>
                </a:r>
                <a:r>
                  <a:rPr lang="en-GB" dirty="0"/>
                  <a:t> once we have divided some number </a:t>
                </a:r>
                <a:r>
                  <a:rPr lang="en-GB" i="1" dirty="0"/>
                  <a:t>b</a:t>
                </a:r>
                <a:r>
                  <a:rPr lang="en-GB" dirty="0"/>
                  <a:t> by </a:t>
                </a:r>
                <a:r>
                  <a:rPr lang="en-GB" i="1" dirty="0"/>
                  <a:t>a</a:t>
                </a:r>
                <a:r>
                  <a:rPr lang="en-GB" dirty="0"/>
                  <a:t> where </a:t>
                </a:r>
                <a:r>
                  <a:rPr lang="en-GB" i="1" dirty="0"/>
                  <a:t>k</a:t>
                </a:r>
                <a:r>
                  <a:rPr lang="en-GB" dirty="0"/>
                  <a:t>, </a:t>
                </a:r>
                <a:r>
                  <a:rPr lang="en-GB" i="1" dirty="0"/>
                  <a:t>a</a:t>
                </a:r>
                <a:r>
                  <a:rPr lang="en-GB" dirty="0"/>
                  <a:t> and </a:t>
                </a:r>
                <a:r>
                  <a:rPr lang="en-GB" i="1" dirty="0"/>
                  <a:t>b</a:t>
                </a:r>
                <a:r>
                  <a:rPr lang="en-GB" dirty="0"/>
                  <a:t> are all integers.)</a:t>
                </a:r>
              </a:p>
            </p:txBody>
          </p:sp>
        </mc:Choice>
        <mc:Fallback>
          <p:sp>
            <p:nvSpPr>
              <p:cNvPr id="3" name="Content Placeholder 2">
                <a:extLst>
                  <a:ext uri="{FF2B5EF4-FFF2-40B4-BE49-F238E27FC236}">
                    <a16:creationId xmlns:a16="http://schemas.microsoft.com/office/drawing/2014/main" id="{30C32BD4-D9E2-331D-9ED3-DD2B53DF76B4}"/>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n-GB">
                    <a:noFill/>
                  </a:rPr>
                  <a:t> </a:t>
                </a:r>
              </a:p>
            </p:txBody>
          </p:sp>
        </mc:Fallback>
      </mc:AlternateContent>
    </p:spTree>
    <p:extLst>
      <p:ext uri="{BB962C8B-B14F-4D97-AF65-F5344CB8AC3E}">
        <p14:creationId xmlns:p14="http://schemas.microsoft.com/office/powerpoint/2010/main" val="4162629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078B-986C-21FA-26FA-5D7D01833FA4}"/>
              </a:ext>
            </a:extLst>
          </p:cNvPr>
          <p:cNvSpPr>
            <a:spLocks noGrp="1"/>
          </p:cNvSpPr>
          <p:nvPr>
            <p:ph type="title"/>
          </p:nvPr>
        </p:nvSpPr>
        <p:spPr/>
        <p:txBody>
          <a:bodyPr/>
          <a:lstStyle/>
          <a:p>
            <a:r>
              <a:rPr lang="en-GB" dirty="0"/>
              <a:t>Brun’s Theorem and Sieve Theory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0256AC8-58C9-6270-7770-B76B840E6E7C}"/>
                  </a:ext>
                </a:extLst>
              </p:cNvPr>
              <p:cNvSpPr>
                <a:spLocks noGrp="1"/>
              </p:cNvSpPr>
              <p:nvPr>
                <p:ph idx="1"/>
              </p:nvPr>
            </p:nvSpPr>
            <p:spPr/>
            <p:txBody>
              <a:bodyPr/>
              <a:lstStyle/>
              <a:p>
                <a:r>
                  <a:rPr lang="en-GB" dirty="0"/>
                  <a:t>Brun’s Theorem states that the sum of the reciprocals of the twin primes is convergent:</a:t>
                </a:r>
              </a:p>
              <a:p>
                <a14:m>
                  <m:oMath xmlns:m="http://schemas.openxmlformats.org/officeDocument/2006/math">
                    <m:nary>
                      <m:naryPr>
                        <m:chr m:val="∑"/>
                        <m:supHide m:val="on"/>
                        <m:ctrlPr>
                          <a:rPr lang="en-GB" i="1" smtClean="0">
                            <a:latin typeface="Cambria Math" panose="02040503050406030204" pitchFamily="18" charset="0"/>
                          </a:rPr>
                        </m:ctrlPr>
                      </m:naryPr>
                      <m:sub>
                        <m:r>
                          <m:rPr>
                            <m:brk m:alnAt="7"/>
                          </m:rP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+2</m:t>
                        </m:r>
                      </m:sub>
                      <m:sup/>
                      <m:e>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𝑝</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𝑝</m:t>
                            </m:r>
                            <m:r>
                              <a:rPr lang="en-GB" b="0" i="1" smtClean="0">
                                <a:latin typeface="Cambria Math" panose="02040503050406030204" pitchFamily="18" charset="0"/>
                              </a:rPr>
                              <m:t>+2</m:t>
                            </m:r>
                          </m:den>
                        </m:f>
                        <m:r>
                          <a:rPr lang="en-GB" b="0" i="1" smtClean="0">
                            <a:latin typeface="Cambria Math" panose="02040503050406030204" pitchFamily="18" charset="0"/>
                          </a:rPr>
                          <m:t>=</m:t>
                        </m:r>
                        <m:r>
                          <a:rPr lang="en-GB" b="0" i="1" smtClean="0">
                            <a:latin typeface="Cambria Math" panose="02040503050406030204" pitchFamily="18" charset="0"/>
                          </a:rPr>
                          <m:t>𝐵</m:t>
                        </m:r>
                      </m:e>
                    </m:nary>
                  </m:oMath>
                </a14:m>
                <a:r>
                  <a:rPr lang="en-GB" dirty="0"/>
                  <a:t>, where B is Brun’s Constant (just under 2 at around 1.902) </a:t>
                </a:r>
                <a:r>
                  <a:rPr lang="en-GB" sz="800" dirty="0"/>
                  <a:t>https://ora.ox.ac.uk/objects/uuid:83245111-5eb3-4463-b43e-6065aa1de656/files/m6a6703d14050542095d54c4135bd1a34</a:t>
                </a:r>
              </a:p>
              <a:p>
                <a:r>
                  <a:rPr lang="en-GB" dirty="0"/>
                  <a:t>We also note that </a:t>
                </a:r>
                <a14:m>
                  <m:oMath xmlns:m="http://schemas.openxmlformats.org/officeDocument/2006/math">
                    <m:nary>
                      <m:naryPr>
                        <m:chr m:val="∑"/>
                        <m:supHide m:val="on"/>
                        <m:ctrlPr>
                          <a:rPr lang="en-GB" i="1" smtClean="0">
                            <a:latin typeface="Cambria Math" panose="02040503050406030204" pitchFamily="18" charset="0"/>
                          </a:rPr>
                        </m:ctrlPr>
                      </m:naryPr>
                      <m:sub>
                        <m:r>
                          <m:rPr>
                            <m:brk m:alnAt="7"/>
                          </m:rPr>
                          <a:rPr lang="en-GB" b="0" i="1" smtClean="0">
                            <a:latin typeface="Cambria Math" panose="02040503050406030204" pitchFamily="18" charset="0"/>
                          </a:rPr>
                          <m:t>𝑝</m:t>
                        </m:r>
                      </m:sub>
                      <m:sup/>
                      <m:e>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𝑝</m:t>
                            </m:r>
                          </m:den>
                        </m:f>
                      </m:e>
                    </m:nary>
                    <m:r>
                      <a:rPr lang="en-GB" b="0" i="0" smtClean="0">
                        <a:latin typeface="Cambria Math" panose="02040503050406030204" pitchFamily="18" charset="0"/>
                      </a:rPr>
                      <m:t> </m:t>
                    </m:r>
                  </m:oMath>
                </a14:m>
                <a:r>
                  <a:rPr lang="en-GB" dirty="0"/>
                  <a:t> diverges toward infinity.</a:t>
                </a:r>
              </a:p>
              <a:p>
                <a:r>
                  <a:rPr lang="en-GB" dirty="0"/>
                  <a:t>Brun used Sieve theory to arrive to this point, which we will briefly outline due to its importance in number theory.</a:t>
                </a:r>
              </a:p>
              <a:p>
                <a:endParaRPr lang="en-GB" dirty="0"/>
              </a:p>
            </p:txBody>
          </p:sp>
        </mc:Choice>
        <mc:Fallback>
          <p:sp>
            <p:nvSpPr>
              <p:cNvPr id="3" name="Content Placeholder 2">
                <a:extLst>
                  <a:ext uri="{FF2B5EF4-FFF2-40B4-BE49-F238E27FC236}">
                    <a16:creationId xmlns:a16="http://schemas.microsoft.com/office/drawing/2014/main" id="{50256AC8-58C9-6270-7770-B76B840E6E7C}"/>
                  </a:ext>
                </a:extLst>
              </p:cNvPr>
              <p:cNvSpPr>
                <a:spLocks noGrp="1" noRot="1" noChangeAspect="1" noMove="1" noResize="1" noEditPoints="1" noAdjustHandles="1" noChangeArrowheads="1" noChangeShapeType="1" noTextEdit="1"/>
              </p:cNvSpPr>
              <p:nvPr>
                <p:ph idx="1"/>
              </p:nvPr>
            </p:nvSpPr>
            <p:spPr>
              <a:blipFill>
                <a:blip r:embed="rId2"/>
                <a:stretch>
                  <a:fillRect l="-1043" t="-2381" r="-116"/>
                </a:stretch>
              </a:blipFill>
            </p:spPr>
            <p:txBody>
              <a:bodyPr/>
              <a:lstStyle/>
              <a:p>
                <a:r>
                  <a:rPr lang="en-GB">
                    <a:noFill/>
                  </a:rPr>
                  <a:t> </a:t>
                </a:r>
              </a:p>
            </p:txBody>
          </p:sp>
        </mc:Fallback>
      </mc:AlternateContent>
    </p:spTree>
    <p:extLst>
      <p:ext uri="{BB962C8B-B14F-4D97-AF65-F5344CB8AC3E}">
        <p14:creationId xmlns:p14="http://schemas.microsoft.com/office/powerpoint/2010/main" val="4098507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D7037-3A47-BD6C-E068-CD9E57CF4571}"/>
              </a:ext>
            </a:extLst>
          </p:cNvPr>
          <p:cNvSpPr>
            <a:spLocks noGrp="1"/>
          </p:cNvSpPr>
          <p:nvPr>
            <p:ph type="title"/>
          </p:nvPr>
        </p:nvSpPr>
        <p:spPr/>
        <p:txBody>
          <a:bodyPr/>
          <a:lstStyle/>
          <a:p>
            <a:r>
              <a:rPr lang="en-GB" dirty="0"/>
              <a:t>Sieve Theory</a:t>
            </a:r>
          </a:p>
        </p:txBody>
      </p:sp>
      <p:sp>
        <p:nvSpPr>
          <p:cNvPr id="3" name="Content Placeholder 2">
            <a:extLst>
              <a:ext uri="{FF2B5EF4-FFF2-40B4-BE49-F238E27FC236}">
                <a16:creationId xmlns:a16="http://schemas.microsoft.com/office/drawing/2014/main" id="{8366C5C0-47B9-8F8C-915B-9B3E7522C1B1}"/>
              </a:ext>
            </a:extLst>
          </p:cNvPr>
          <p:cNvSpPr>
            <a:spLocks noGrp="1"/>
          </p:cNvSpPr>
          <p:nvPr>
            <p:ph idx="1"/>
          </p:nvPr>
        </p:nvSpPr>
        <p:spPr/>
        <p:txBody>
          <a:bodyPr>
            <a:normAutofit fontScale="92500" lnSpcReduction="10000"/>
          </a:bodyPr>
          <a:lstStyle/>
          <a:p>
            <a:r>
              <a:rPr lang="en-GB" dirty="0"/>
              <a:t>Sieve Theory is useful in many fields; examples including self-avoiding walks and cyclic structures in group theory however happens to be exceptionally useful when better understanding prime numbers</a:t>
            </a:r>
          </a:p>
          <a:p>
            <a:r>
              <a:rPr lang="en-GB" dirty="0"/>
              <a:t>Generally, it concerns objects which are the output of some inclusion-exclusion process</a:t>
            </a:r>
          </a:p>
          <a:p>
            <a:r>
              <a:rPr lang="en-GB" dirty="0"/>
              <a:t>Sieve Theory’s nature involves abandoning some level of structure in favour of approximations, allowing partial information to be obtained such as bounds. It serves normally as one of the first steps to forming an argument when proving prime number related theorems</a:t>
            </a:r>
          </a:p>
          <a:p>
            <a:r>
              <a:rPr lang="en-GB" dirty="0"/>
              <a:t>We will look briefly at the Sieve of Eratosthenes (a mathematician born in 276BC) from numbers up to 100 to illustrate this.</a:t>
            </a:r>
          </a:p>
          <a:p>
            <a:endParaRPr lang="en-GB" dirty="0"/>
          </a:p>
        </p:txBody>
      </p:sp>
    </p:spTree>
    <p:extLst>
      <p:ext uri="{BB962C8B-B14F-4D97-AF65-F5344CB8AC3E}">
        <p14:creationId xmlns:p14="http://schemas.microsoft.com/office/powerpoint/2010/main" val="95458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id of numbers with black text">
            <a:extLst>
              <a:ext uri="{FF2B5EF4-FFF2-40B4-BE49-F238E27FC236}">
                <a16:creationId xmlns:a16="http://schemas.microsoft.com/office/drawing/2014/main" id="{2D51D668-EEF8-AA22-5094-7346ED8EDF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7143596" cy="5923566"/>
          </a:xfrm>
        </p:spPr>
      </p:pic>
      <p:sp>
        <p:nvSpPr>
          <p:cNvPr id="11" name="TextBox 10">
            <a:extLst>
              <a:ext uri="{FF2B5EF4-FFF2-40B4-BE49-F238E27FC236}">
                <a16:creationId xmlns:a16="http://schemas.microsoft.com/office/drawing/2014/main" id="{2CE1F337-CB16-D728-AB23-39485C8CB555}"/>
              </a:ext>
            </a:extLst>
          </p:cNvPr>
          <p:cNvSpPr txBox="1"/>
          <p:nvPr/>
        </p:nvSpPr>
        <p:spPr>
          <a:xfrm>
            <a:off x="0" y="6213987"/>
            <a:ext cx="4916129" cy="338554"/>
          </a:xfrm>
          <a:prstGeom prst="rect">
            <a:avLst/>
          </a:prstGeom>
          <a:noFill/>
        </p:spPr>
        <p:txBody>
          <a:bodyPr wrap="square">
            <a:spAutoFit/>
          </a:bodyPr>
          <a:lstStyle/>
          <a:p>
            <a:r>
              <a:rPr lang="en-GB" sz="800" dirty="0"/>
              <a:t>https://www.quantamagazine.org/yitang-zhang-proves-landmark-theorem-in-distribution-of-prime-numbers-20130519/</a:t>
            </a:r>
          </a:p>
        </p:txBody>
      </p:sp>
      <p:sp>
        <p:nvSpPr>
          <p:cNvPr id="13" name="TextBox 12">
            <a:extLst>
              <a:ext uri="{FF2B5EF4-FFF2-40B4-BE49-F238E27FC236}">
                <a16:creationId xmlns:a16="http://schemas.microsoft.com/office/drawing/2014/main" id="{16A2138E-368F-E5D1-F31F-D71F9AE52012}"/>
              </a:ext>
            </a:extLst>
          </p:cNvPr>
          <p:cNvSpPr txBox="1"/>
          <p:nvPr/>
        </p:nvSpPr>
        <p:spPr>
          <a:xfrm>
            <a:off x="7334865" y="113300"/>
            <a:ext cx="4768644" cy="4031873"/>
          </a:xfrm>
          <a:prstGeom prst="rect">
            <a:avLst/>
          </a:prstGeom>
          <a:noFill/>
        </p:spPr>
        <p:txBody>
          <a:bodyPr wrap="square">
            <a:spAutoFit/>
          </a:bodyPr>
          <a:lstStyle/>
          <a:p>
            <a:r>
              <a:rPr lang="en-GB" sz="1600" dirty="0"/>
              <a:t>“The Sieve of Eratosthenes identifies all the primes less than a given number, in this case 121. It starts with the first prime — two, coloured bright red — and eliminates all numbers divisible by two (coloured dull red). Then it moves on to three (bright green) and eliminates all multiples of three (dull green). Four has already been eliminated, so next comes five (bright blue); the sieve eliminates all multiples of five (dull blue). It moves on to the next uncoloured number, seven, and eliminates its multiples (dull yellow). The sieve would go on to 11 — the square root of 121 — but it can stop here, because all the non-primes bigger than 11 have already been filtered out. All the remaining numbers (coloured purple) are primes.” (The caption from Quanta Magazine outlining how this sieve works)</a:t>
            </a:r>
          </a:p>
        </p:txBody>
      </p:sp>
      <p:sp>
        <p:nvSpPr>
          <p:cNvPr id="14" name="TextBox 13">
            <a:extLst>
              <a:ext uri="{FF2B5EF4-FFF2-40B4-BE49-F238E27FC236}">
                <a16:creationId xmlns:a16="http://schemas.microsoft.com/office/drawing/2014/main" id="{DC046ACE-9F3A-8907-A5B4-56D11B2D99E5}"/>
              </a:ext>
            </a:extLst>
          </p:cNvPr>
          <p:cNvSpPr txBox="1"/>
          <p:nvPr/>
        </p:nvSpPr>
        <p:spPr>
          <a:xfrm>
            <a:off x="4916129" y="5913703"/>
            <a:ext cx="7580671" cy="830997"/>
          </a:xfrm>
          <a:prstGeom prst="rect">
            <a:avLst/>
          </a:prstGeom>
          <a:noFill/>
        </p:spPr>
        <p:txBody>
          <a:bodyPr wrap="square" rtlCol="0">
            <a:spAutoFit/>
          </a:bodyPr>
          <a:lstStyle/>
          <a:p>
            <a:r>
              <a:rPr lang="en-GB" sz="1600" dirty="0"/>
              <a:t>This sieve does an excellent (perfect) job at identifying primes, though it is a slow process. What mathematicians do instead is devise less precise methods that are less cumbersome, though more useful for answering theoretical ideas. </a:t>
            </a:r>
          </a:p>
        </p:txBody>
      </p:sp>
    </p:spTree>
    <p:extLst>
      <p:ext uri="{BB962C8B-B14F-4D97-AF65-F5344CB8AC3E}">
        <p14:creationId xmlns:p14="http://schemas.microsoft.com/office/powerpoint/2010/main" val="134322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4CB1D-4EBB-094F-1D49-2CB610EBDC84}"/>
              </a:ext>
            </a:extLst>
          </p:cNvPr>
          <p:cNvSpPr>
            <a:spLocks noGrp="1"/>
          </p:cNvSpPr>
          <p:nvPr>
            <p:ph type="title"/>
          </p:nvPr>
        </p:nvSpPr>
        <p:spPr>
          <a:xfrm>
            <a:off x="0" y="21837"/>
            <a:ext cx="10515600" cy="1325563"/>
          </a:xfrm>
        </p:spPr>
        <p:txBody>
          <a:bodyPr/>
          <a:lstStyle/>
          <a:p>
            <a:r>
              <a:rPr lang="en-GB" dirty="0"/>
              <a:t>Distributions of primes/some data on twin primes</a:t>
            </a:r>
          </a:p>
        </p:txBody>
      </p:sp>
      <p:pic>
        <p:nvPicPr>
          <p:cNvPr id="5" name="Content Placeholder 4" descr="A graph with a blue line and numbers&#10;&#10;Description automatically generated">
            <a:extLst>
              <a:ext uri="{FF2B5EF4-FFF2-40B4-BE49-F238E27FC236}">
                <a16:creationId xmlns:a16="http://schemas.microsoft.com/office/drawing/2014/main" id="{9ED3B0A4-41D6-CA31-D177-8CC9DDD0E3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53585" y="1649918"/>
            <a:ext cx="6538415" cy="3213609"/>
          </a:xfrm>
        </p:spPr>
      </p:pic>
      <p:sp>
        <p:nvSpPr>
          <p:cNvPr id="7" name="TextBox 6">
            <a:extLst>
              <a:ext uri="{FF2B5EF4-FFF2-40B4-BE49-F238E27FC236}">
                <a16:creationId xmlns:a16="http://schemas.microsoft.com/office/drawing/2014/main" id="{6D5306F8-A010-FEBE-22EF-44D72A028795}"/>
              </a:ext>
            </a:extLst>
          </p:cNvPr>
          <p:cNvSpPr txBox="1"/>
          <p:nvPr/>
        </p:nvSpPr>
        <p:spPr>
          <a:xfrm>
            <a:off x="7283371" y="1373444"/>
            <a:ext cx="6094070" cy="369332"/>
          </a:xfrm>
          <a:prstGeom prst="rect">
            <a:avLst/>
          </a:prstGeom>
          <a:noFill/>
        </p:spPr>
        <p:txBody>
          <a:bodyPr wrap="square">
            <a:spAutoFit/>
          </a:bodyPr>
          <a:lstStyle/>
          <a:p>
            <a:r>
              <a:rPr lang="en-GB" dirty="0"/>
              <a:t>https://www.hugin.com.au/prime/abouttwin.htm</a:t>
            </a:r>
          </a:p>
        </p:txBody>
      </p:sp>
      <p:sp>
        <p:nvSpPr>
          <p:cNvPr id="8" name="TextBox 7">
            <a:extLst>
              <a:ext uri="{FF2B5EF4-FFF2-40B4-BE49-F238E27FC236}">
                <a16:creationId xmlns:a16="http://schemas.microsoft.com/office/drawing/2014/main" id="{BD1948E3-0178-F4F1-3940-EDCF432DEA22}"/>
              </a:ext>
            </a:extLst>
          </p:cNvPr>
          <p:cNvSpPr txBox="1"/>
          <p:nvPr/>
        </p:nvSpPr>
        <p:spPr>
          <a:xfrm>
            <a:off x="0" y="4863527"/>
            <a:ext cx="3854245" cy="2031325"/>
          </a:xfrm>
          <a:prstGeom prst="rect">
            <a:avLst/>
          </a:prstGeom>
          <a:noFill/>
        </p:spPr>
        <p:txBody>
          <a:bodyPr wrap="square" rtlCol="0">
            <a:spAutoFit/>
          </a:bodyPr>
          <a:lstStyle/>
          <a:p>
            <a:r>
              <a:rPr lang="en-GB" dirty="0"/>
              <a:t>I wrote a python script from a data set I found of the first 20,000 twin prime pairs and compared it graphically against the first 40000 primes in 2 separate ways using NumPy and Matplotlib. The graphs are shown on the next 2 slides.</a:t>
            </a:r>
          </a:p>
        </p:txBody>
      </p:sp>
      <p:sp>
        <p:nvSpPr>
          <p:cNvPr id="9" name="TextBox 8">
            <a:extLst>
              <a:ext uri="{FF2B5EF4-FFF2-40B4-BE49-F238E27FC236}">
                <a16:creationId xmlns:a16="http://schemas.microsoft.com/office/drawing/2014/main" id="{27A5FE5B-7079-9FB5-8915-F54966AA1B85}"/>
              </a:ext>
            </a:extLst>
          </p:cNvPr>
          <p:cNvSpPr txBox="1"/>
          <p:nvPr/>
        </p:nvSpPr>
        <p:spPr>
          <a:xfrm>
            <a:off x="570271" y="1742776"/>
            <a:ext cx="4837471" cy="1477328"/>
          </a:xfrm>
          <a:prstGeom prst="rect">
            <a:avLst/>
          </a:prstGeom>
          <a:noFill/>
        </p:spPr>
        <p:txBody>
          <a:bodyPr wrap="square" rtlCol="0">
            <a:spAutoFit/>
          </a:bodyPr>
          <a:lstStyle/>
          <a:p>
            <a:r>
              <a:rPr lang="en-GB" dirty="0"/>
              <a:t>We can see that the number of twin primes becomes an increasingly smaller fraction of the prime numbers as we approach very large integers. This again does not mean that there are finitely many twin prime numbers.</a:t>
            </a:r>
          </a:p>
        </p:txBody>
      </p:sp>
    </p:spTree>
    <p:extLst>
      <p:ext uri="{BB962C8B-B14F-4D97-AF65-F5344CB8AC3E}">
        <p14:creationId xmlns:p14="http://schemas.microsoft.com/office/powerpoint/2010/main" val="2349354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D57BEB9-0DA3-95A2-D89B-663F092BFFB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64400" y="619432"/>
            <a:ext cx="9195677" cy="6238568"/>
          </a:xfrm>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FCBCBFD-6686-6815-E65A-014464276BEB}"/>
                  </a:ext>
                </a:extLst>
              </p:cNvPr>
              <p:cNvSpPr txBox="1"/>
              <p:nvPr/>
            </p:nvSpPr>
            <p:spPr>
              <a:xfrm>
                <a:off x="9802761" y="112756"/>
                <a:ext cx="2487562" cy="6745244"/>
              </a:xfrm>
              <a:prstGeom prst="rect">
                <a:avLst/>
              </a:prstGeom>
              <a:noFill/>
            </p:spPr>
            <p:txBody>
              <a:bodyPr wrap="square" rtlCol="0">
                <a:spAutoFit/>
              </a:bodyPr>
              <a:lstStyle/>
              <a:p>
                <a:r>
                  <a:rPr lang="en-GB" dirty="0"/>
                  <a:t>We can see the gap between the value of the </a:t>
                </a:r>
                <a14:m>
                  <m:oMath xmlns:m="http://schemas.openxmlformats.org/officeDocument/2006/math">
                    <m:sSup>
                      <m:sSupPr>
                        <m:ctrlPr>
                          <a:rPr lang="en-GB" i="1" smtClean="0">
                            <a:latin typeface="Cambria Math" panose="02040503050406030204" pitchFamily="18" charset="0"/>
                          </a:rPr>
                        </m:ctrlPr>
                      </m:sSupPr>
                      <m:e>
                        <m:r>
                          <a:rPr lang="en-GB" b="0" i="1" smtClean="0">
                            <a:latin typeface="Cambria Math" panose="02040503050406030204" pitchFamily="18" charset="0"/>
                          </a:rPr>
                          <m:t>𝑁</m:t>
                        </m:r>
                      </m:e>
                      <m:sup>
                        <m:r>
                          <a:rPr lang="en-GB" b="0" i="1" smtClean="0">
                            <a:latin typeface="Cambria Math" panose="02040503050406030204" pitchFamily="18" charset="0"/>
                          </a:rPr>
                          <m:t>𝑡h</m:t>
                        </m:r>
                      </m:sup>
                    </m:sSup>
                  </m:oMath>
                </a14:m>
                <a:r>
                  <a:rPr lang="en-GB" dirty="0"/>
                  <a:t>prime and twin prime increasing. </a:t>
                </a:r>
              </a:p>
              <a:p>
                <a:endParaRPr lang="en-GB" dirty="0"/>
              </a:p>
              <a:p>
                <a:r>
                  <a:rPr lang="en-GB" dirty="0"/>
                  <a:t>The value of this gap represents the number of isolated/non twin primes; this can be seen to approach infinity. </a:t>
                </a:r>
              </a:p>
              <a:p>
                <a:endParaRPr lang="en-GB" dirty="0"/>
              </a:p>
              <a:p>
                <a:r>
                  <a:rPr lang="en-GB" dirty="0"/>
                  <a:t>The isolated prime to all prime number ratio approaches 1 as n becomes large, we can see this happening here.</a:t>
                </a:r>
              </a:p>
              <a:p>
                <a:endParaRPr lang="en-GB" dirty="0"/>
              </a:p>
              <a:p>
                <a:r>
                  <a:rPr lang="en-GB" dirty="0"/>
                  <a:t>Note: this does not mean that the yellow line/ number of twin primes will converge, however.</a:t>
                </a:r>
              </a:p>
            </p:txBody>
          </p:sp>
        </mc:Choice>
        <mc:Fallback>
          <p:sp>
            <p:nvSpPr>
              <p:cNvPr id="12" name="TextBox 11">
                <a:extLst>
                  <a:ext uri="{FF2B5EF4-FFF2-40B4-BE49-F238E27FC236}">
                    <a16:creationId xmlns:a16="http://schemas.microsoft.com/office/drawing/2014/main" id="{9FCBCBFD-6686-6815-E65A-014464276BEB}"/>
                  </a:ext>
                </a:extLst>
              </p:cNvPr>
              <p:cNvSpPr txBox="1">
                <a:spLocks noRot="1" noChangeAspect="1" noMove="1" noResize="1" noEditPoints="1" noAdjustHandles="1" noChangeArrowheads="1" noChangeShapeType="1" noTextEdit="1"/>
              </p:cNvSpPr>
              <p:nvPr/>
            </p:nvSpPr>
            <p:spPr>
              <a:xfrm>
                <a:off x="9802761" y="112756"/>
                <a:ext cx="2487562" cy="6745244"/>
              </a:xfrm>
              <a:prstGeom prst="rect">
                <a:avLst/>
              </a:prstGeom>
              <a:blipFill>
                <a:blip r:embed="rId3"/>
                <a:stretch>
                  <a:fillRect l="-1961" t="-361" r="-1961" b="-452"/>
                </a:stretch>
              </a:blipFill>
            </p:spPr>
            <p:txBody>
              <a:bodyPr/>
              <a:lstStyle/>
              <a:p>
                <a:r>
                  <a:rPr lang="en-GB">
                    <a:noFill/>
                  </a:rPr>
                  <a:t> </a:t>
                </a:r>
              </a:p>
            </p:txBody>
          </p:sp>
        </mc:Fallback>
      </mc:AlternateContent>
      <p:sp>
        <p:nvSpPr>
          <p:cNvPr id="13" name="TextBox 12">
            <a:extLst>
              <a:ext uri="{FF2B5EF4-FFF2-40B4-BE49-F238E27FC236}">
                <a16:creationId xmlns:a16="http://schemas.microsoft.com/office/drawing/2014/main" id="{C1142CAF-8F9B-AB1F-3443-BB7002FA6F96}"/>
              </a:ext>
            </a:extLst>
          </p:cNvPr>
          <p:cNvSpPr txBox="1"/>
          <p:nvPr/>
        </p:nvSpPr>
        <p:spPr>
          <a:xfrm>
            <a:off x="589936" y="0"/>
            <a:ext cx="9910915" cy="830997"/>
          </a:xfrm>
          <a:prstGeom prst="rect">
            <a:avLst/>
          </a:prstGeom>
          <a:noFill/>
        </p:spPr>
        <p:txBody>
          <a:bodyPr wrap="square" rtlCol="0">
            <a:spAutoFit/>
          </a:bodyPr>
          <a:lstStyle/>
          <a:p>
            <a:r>
              <a:rPr lang="en-GB" sz="4800" dirty="0"/>
              <a:t>Isolated Primes and Twin Primes</a:t>
            </a:r>
          </a:p>
        </p:txBody>
      </p:sp>
    </p:spTree>
    <p:extLst>
      <p:ext uri="{BB962C8B-B14F-4D97-AF65-F5344CB8AC3E}">
        <p14:creationId xmlns:p14="http://schemas.microsoft.com/office/powerpoint/2010/main" val="4072684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a line&#10;&#10;Description automatically generated">
            <a:extLst>
              <a:ext uri="{FF2B5EF4-FFF2-40B4-BE49-F238E27FC236}">
                <a16:creationId xmlns:a16="http://schemas.microsoft.com/office/drawing/2014/main" id="{3A704E90-2DE7-6685-C87A-489A62C151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988" y="472533"/>
            <a:ext cx="8436077" cy="6257647"/>
          </a:xfrm>
        </p:spPr>
      </p:pic>
    </p:spTree>
    <p:extLst>
      <p:ext uri="{BB962C8B-B14F-4D97-AF65-F5344CB8AC3E}">
        <p14:creationId xmlns:p14="http://schemas.microsoft.com/office/powerpoint/2010/main" val="150741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D3E5A-8270-346D-7986-027299D97647}"/>
              </a:ext>
            </a:extLst>
          </p:cNvPr>
          <p:cNvSpPr>
            <a:spLocks noGrp="1"/>
          </p:cNvSpPr>
          <p:nvPr>
            <p:ph type="title"/>
          </p:nvPr>
        </p:nvSpPr>
        <p:spPr/>
        <p:txBody>
          <a:bodyPr/>
          <a:lstStyle/>
          <a:p>
            <a:r>
              <a:rPr lang="en-GB" dirty="0"/>
              <a:t>Recent Developments</a:t>
            </a:r>
          </a:p>
        </p:txBody>
      </p:sp>
      <p:sp>
        <p:nvSpPr>
          <p:cNvPr id="7" name="Content Placeholder 2">
            <a:extLst>
              <a:ext uri="{FF2B5EF4-FFF2-40B4-BE49-F238E27FC236}">
                <a16:creationId xmlns:a16="http://schemas.microsoft.com/office/drawing/2014/main" id="{013BC266-8B11-D13A-777F-F6507007D941}"/>
              </a:ext>
            </a:extLst>
          </p:cNvPr>
          <p:cNvSpPr>
            <a:spLocks noGrp="1"/>
          </p:cNvSpPr>
          <p:nvPr>
            <p:ph idx="1"/>
          </p:nvPr>
        </p:nvSpPr>
        <p:spPr>
          <a:xfrm>
            <a:off x="838200" y="1825625"/>
            <a:ext cx="10515600" cy="4351338"/>
          </a:xfrm>
        </p:spPr>
        <p:txBody>
          <a:bodyPr>
            <a:normAutofit lnSpcReduction="10000"/>
          </a:bodyPr>
          <a:lstStyle/>
          <a:p>
            <a:r>
              <a:rPr lang="en-GB" dirty="0"/>
              <a:t>More recently in April 2013 we have seen Yitang Zhang prove that for some integer N less than 70 million, there exist infinitely pairs of primes p such that p and p+N are both prime (Polignac’s conjecture for some k=N). Terrence Tao subsequently announced a polymath project to improve this gap to a smaller N</a:t>
            </a:r>
          </a:p>
          <a:p>
            <a:r>
              <a:rPr lang="en-GB" dirty="0"/>
              <a:t>Following the Polymath project in 2014, James Maynard and Tao independently discovered a method to optimise this gap to 246, however assuming a conjecture that concerns the distribution of primes in arithmetic progressions this gap can be optimised to, at best, 6. This is arguably the closest we have got to proving the twin prime conjecture since it was proposed. </a:t>
            </a:r>
          </a:p>
        </p:txBody>
      </p:sp>
    </p:spTree>
    <p:extLst>
      <p:ext uri="{BB962C8B-B14F-4D97-AF65-F5344CB8AC3E}">
        <p14:creationId xmlns:p14="http://schemas.microsoft.com/office/powerpoint/2010/main" val="4288838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1C70A-597F-C6EF-C7EC-5BFBC7E9083D}"/>
              </a:ext>
            </a:extLst>
          </p:cNvPr>
          <p:cNvSpPr>
            <a:spLocks noGrp="1"/>
          </p:cNvSpPr>
          <p:nvPr>
            <p:ph type="title"/>
          </p:nvPr>
        </p:nvSpPr>
        <p:spPr/>
        <p:txBody>
          <a:bodyPr/>
          <a:lstStyle/>
          <a:p>
            <a:r>
              <a:rPr lang="en-GB" dirty="0"/>
              <a:t>Key Points</a:t>
            </a:r>
          </a:p>
        </p:txBody>
      </p:sp>
      <p:sp>
        <p:nvSpPr>
          <p:cNvPr id="3" name="Content Placeholder 2">
            <a:extLst>
              <a:ext uri="{FF2B5EF4-FFF2-40B4-BE49-F238E27FC236}">
                <a16:creationId xmlns:a16="http://schemas.microsoft.com/office/drawing/2014/main" id="{DF94C9C4-9A16-FFAF-BF14-434B63B493D2}"/>
              </a:ext>
            </a:extLst>
          </p:cNvPr>
          <p:cNvSpPr>
            <a:spLocks noGrp="1"/>
          </p:cNvSpPr>
          <p:nvPr>
            <p:ph idx="1"/>
          </p:nvPr>
        </p:nvSpPr>
        <p:spPr>
          <a:xfrm>
            <a:off x="838200" y="1582994"/>
            <a:ext cx="10911348" cy="4593969"/>
          </a:xfrm>
        </p:spPr>
        <p:txBody>
          <a:bodyPr>
            <a:normAutofit fontScale="85000" lnSpcReduction="10000"/>
          </a:bodyPr>
          <a:lstStyle/>
          <a:p>
            <a:r>
              <a:rPr lang="en-GB" dirty="0"/>
              <a:t>Any twin prime will be either 1 more than or 1 less than a multiple of six, and a twin prime pair’s product will always be one less than a multiple of 9.</a:t>
            </a:r>
          </a:p>
          <a:p>
            <a:r>
              <a:rPr lang="en-GB" dirty="0"/>
              <a:t>Whilst we cannot yet prove the desired conjecture, we can show that Polignac’s conjecture is true for k=246</a:t>
            </a:r>
          </a:p>
          <a:p>
            <a:r>
              <a:rPr lang="en-GB" dirty="0"/>
              <a:t>The largest known twin prime pair is</a:t>
            </a:r>
          </a:p>
          <a:p>
            <a:pPr marL="0" indent="0">
              <a:buNone/>
            </a:pPr>
            <a:r>
              <a:rPr lang="en-GB" dirty="0"/>
              <a:t>   2996863034895 × 2</a:t>
            </a:r>
            <a:r>
              <a:rPr lang="en-GB" baseline="30000" dirty="0"/>
              <a:t>1290000</a:t>
            </a:r>
            <a:r>
              <a:rPr lang="en-GB" dirty="0"/>
              <a:t> ± 1. (388342 digits)</a:t>
            </a:r>
          </a:p>
          <a:p>
            <a:r>
              <a:rPr lang="en-GB" dirty="0"/>
              <a:t>Sieve Theory is crucial to better understanding twin primes and was used by Zhang, Tao and Maynard to help make the progress that has been made this century. </a:t>
            </a:r>
          </a:p>
          <a:p>
            <a:r>
              <a:rPr lang="en-GB" dirty="0"/>
              <a:t>If we plot a graph of the number of twin primes against the numbers where they appear and approximate the graph as a curve, we see a negative second derivative in gradient but a positive first derivative. If the twin prime conjecture is true, the graph will never have a negative first derivative. </a:t>
            </a:r>
          </a:p>
          <a:p>
            <a:pPr marL="0" indent="0">
              <a:buNone/>
            </a:pPr>
            <a:endParaRPr lang="en-GB" dirty="0"/>
          </a:p>
          <a:p>
            <a:endParaRPr lang="en-GB" dirty="0"/>
          </a:p>
        </p:txBody>
      </p:sp>
    </p:spTree>
    <p:extLst>
      <p:ext uri="{BB962C8B-B14F-4D97-AF65-F5344CB8AC3E}">
        <p14:creationId xmlns:p14="http://schemas.microsoft.com/office/powerpoint/2010/main" val="2916559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1504</Words>
  <Application>Microsoft Office PowerPoint</Application>
  <PresentationFormat>Widescreen</PresentationFormat>
  <Paragraphs>77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Cambria Math</vt:lpstr>
      <vt:lpstr>Office Theme</vt:lpstr>
      <vt:lpstr>      The Twin Prime Conjecture</vt:lpstr>
      <vt:lpstr>PowerPoint Presentation</vt:lpstr>
      <vt:lpstr>Importance to Number Theory and Applications</vt:lpstr>
      <vt:lpstr>What is the Twin Prime Conjecture?</vt:lpstr>
      <vt:lpstr>History</vt:lpstr>
      <vt:lpstr>Some Trivial Properties of Twin Primes</vt:lpstr>
      <vt:lpstr>Brun’s Theorem and Sieve Theory</vt:lpstr>
      <vt:lpstr>Sieve Theory</vt:lpstr>
      <vt:lpstr>PowerPoint Presentation</vt:lpstr>
      <vt:lpstr>Distributions of primes/some data on twin primes</vt:lpstr>
      <vt:lpstr>PowerPoint Presentation</vt:lpstr>
      <vt:lpstr>PowerPoint Presentation</vt:lpstr>
      <vt:lpstr>Recent Developments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Twin Prime Conjecture</dc:title>
  <dc:creator>Daniel Jackson</dc:creator>
  <cp:lastModifiedBy>Daniel Jackson</cp:lastModifiedBy>
  <cp:revision>1</cp:revision>
  <dcterms:created xsi:type="dcterms:W3CDTF">2024-04-08T13:30:10Z</dcterms:created>
  <dcterms:modified xsi:type="dcterms:W3CDTF">2024-04-10T22:26:00Z</dcterms:modified>
</cp:coreProperties>
</file>